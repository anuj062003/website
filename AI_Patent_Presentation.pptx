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PATENT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2344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AI-Driven Personal Assistant</a:t>
            </a:r>
            <a:br/>
            <a:r>
              <a:t>with Adaptive Response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Patent No: WO2021086528A1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Domain: Artificial Intelligence / Natural Language Processing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754880"/>
            <a:ext cx="5486400" cy="1463040"/>
          </a:xfrm>
          <a:prstGeom prst="roundRect">
            <a:avLst>
              <a:gd name="adj" fmla="val 3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489204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Your Name</a:t>
            </a:r>
            <a:br/>
            <a:r>
              <a:t>Course / Subject</a:t>
            </a:r>
            <a:br/>
            <a:r>
              <a:t>Professor Name</a:t>
            </a:r>
            <a:br/>
            <a: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What is this Patent About?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This patent describes an AI-powered virtual assistant that: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38BDF8"/>
                </a:solidFill>
                <a:latin typeface="Calibri"/>
              </a:rPr>
              <a:t>▸  </a:t>
            </a:r>
            <a:r>
              <a:rPr sz="1800" b="0">
                <a:solidFill>
                  <a:srgbClr val="CBD5E1"/>
                </a:solidFill>
                <a:latin typeface="Calibri"/>
              </a:rPr>
              <a:t>Understands user context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38BDF8"/>
                </a:solidFill>
                <a:latin typeface="Calibri"/>
              </a:rPr>
              <a:t>▸  </a:t>
            </a:r>
            <a:r>
              <a:rPr sz="1800" b="0">
                <a:solidFill>
                  <a:srgbClr val="CBD5E1"/>
                </a:solidFill>
                <a:latin typeface="Calibri"/>
              </a:rPr>
              <a:t>Detects tone and intent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38BDF8"/>
                </a:solidFill>
                <a:latin typeface="Calibri"/>
              </a:rPr>
              <a:t>▸  </a:t>
            </a:r>
            <a:r>
              <a:rPr sz="1800" b="0">
                <a:solidFill>
                  <a:srgbClr val="CBD5E1"/>
                </a:solidFill>
                <a:latin typeface="Calibri"/>
              </a:rPr>
              <a:t>Adapts responses dynamically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38BDF8"/>
                </a:solidFill>
                <a:latin typeface="Calibri"/>
              </a:rPr>
              <a:t>▸  </a:t>
            </a:r>
            <a:r>
              <a:rPr sz="1800" b="0">
                <a:solidFill>
                  <a:srgbClr val="CBD5E1"/>
                </a:solidFill>
                <a:latin typeface="Calibri"/>
              </a:rPr>
              <a:t>Personalizes communication over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515600" cy="1280160"/>
          </a:xfrm>
          <a:prstGeom prst="roundRect">
            <a:avLst>
              <a:gd name="adj" fmla="val 3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92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BBF24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937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Unlike basic assistants (e.g., rule-based bots), this system modifies its response</a:t>
            </a:r>
            <a:br/>
            <a:r>
              <a:t>style based on emotional, contextual, and historical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Problems in Existing Virtual Assistants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228600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Traditional assistants suffer from: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F87171"/>
                </a:solidFill>
                <a:latin typeface="Calibri"/>
              </a:rPr>
              <a:t>▸  </a:t>
            </a:r>
            <a:r>
              <a:rPr sz="1800" b="0">
                <a:solidFill>
                  <a:srgbClr val="CBD5E1"/>
                </a:solidFill>
                <a:latin typeface="Calibri"/>
              </a:rPr>
              <a:t>Give generic, one-size-fits-all responses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F87171"/>
                </a:solidFill>
                <a:latin typeface="Calibri"/>
              </a:rPr>
              <a:t>▸  </a:t>
            </a:r>
            <a:r>
              <a:rPr sz="1800" b="0">
                <a:solidFill>
                  <a:srgbClr val="CBD5E1"/>
                </a:solidFill>
                <a:latin typeface="Calibri"/>
              </a:rPr>
              <a:t>Ignore the user’s emotional tone completely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F87171"/>
                </a:solidFill>
                <a:latin typeface="Calibri"/>
              </a:rPr>
              <a:t>▸  </a:t>
            </a:r>
            <a:r>
              <a:rPr sz="1800" b="0">
                <a:solidFill>
                  <a:srgbClr val="CBD5E1"/>
                </a:solidFill>
                <a:latin typeface="Calibri"/>
              </a:rPr>
              <a:t>Do not adapt to user personality over time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F87171"/>
                </a:solidFill>
                <a:latin typeface="Calibri"/>
              </a:rPr>
              <a:t>▸  </a:t>
            </a:r>
            <a:r>
              <a:rPr sz="1800" b="0">
                <a:solidFill>
                  <a:srgbClr val="CBD5E1"/>
                </a:solidFill>
                <a:latin typeface="Calibri"/>
              </a:rPr>
              <a:t>Lack long-term personalization capabilities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F87171"/>
                </a:solidFill>
                <a:latin typeface="Calibri"/>
              </a:rPr>
              <a:t>▸  </a:t>
            </a:r>
            <a:r>
              <a:rPr sz="1800" b="0">
                <a:solidFill>
                  <a:srgbClr val="CBD5E1"/>
                </a:solidFill>
                <a:latin typeface="Calibri"/>
              </a:rPr>
              <a:t>Cannot adjust communication style dynamically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10515600" cy="1005840"/>
          </a:xfrm>
          <a:prstGeom prst="roundRect">
            <a:avLst>
              <a:gd name="adj" fmla="val 3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Calibri"/>
              </a:defRPr>
            </a:pPr>
            <a:r>
              <a:t>➤  This results in poor engagement and unnatural conversations.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alibri"/>
              </a:defRPr>
            </a:pPr>
            <a: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Objective of the Patent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22860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Calibri"/>
              </a:defRPr>
            </a:pPr>
            <a:r>
              <a:t>The patent aims to: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5029200" cy="64008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50800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7004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Create a context-aware intelligent assistant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5029200" cy="64008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383280"/>
            <a:ext cx="50800" cy="640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49300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Adapt responses based on emotional tone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5029200" cy="64008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206240"/>
            <a:ext cx="50800" cy="6400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159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Personalize using user preferences &amp; past interactions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560320"/>
            <a:ext cx="5029200" cy="64008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560320"/>
            <a:ext cx="50800" cy="6400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67004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Leverage situational context for better replies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383280"/>
            <a:ext cx="5029200" cy="64008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383280"/>
            <a:ext cx="50800" cy="6400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49300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Improve overall human-AI interaction 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Architecture Overview (Figure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2286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0" y="1920240"/>
            <a:ext cx="5486400" cy="50292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1920240"/>
            <a:ext cx="6350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99339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User Input (Voice/Text)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3774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2587752"/>
            <a:ext cx="5486400" cy="50292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2587752"/>
            <a:ext cx="63500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66090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Speech Recognition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3044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3255264"/>
            <a:ext cx="5486400" cy="50292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3255264"/>
            <a:ext cx="6350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3328416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NLP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7124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3922776"/>
            <a:ext cx="5486400" cy="50292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0" y="3922776"/>
            <a:ext cx="63500" cy="5029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399592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Emotion Detection Module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37997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4590288"/>
            <a:ext cx="5486400" cy="50292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0" y="4590288"/>
            <a:ext cx="63500" cy="502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46634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Context Analysis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50474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0" y="5257800"/>
            <a:ext cx="5486400" cy="50292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5257800"/>
            <a:ext cx="63500" cy="5029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0" y="533095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Adaptive Response Generator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57150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0" y="5925312"/>
            <a:ext cx="5486400" cy="50292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0" y="5925312"/>
            <a:ext cx="6350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599846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Response Output (Text/Voice)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78BFA"/>
                </a:solidFill>
                <a:latin typeface="Calibri"/>
              </a:defRPr>
            </a:pPr>
            <a:r>
              <a:t>▸  NLP interprets meaning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2606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▸  Emotion module detects mood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4D399"/>
                </a:solidFill>
                <a:latin typeface="Calibri"/>
              </a:defRPr>
            </a:pPr>
            <a:r>
              <a:t>▸  Context engine checks history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3611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7171"/>
                </a:solidFill>
                <a:latin typeface="Calibri"/>
              </a:defRPr>
            </a:pPr>
            <a:r>
              <a:t>▸  Response generator adjusts tone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Calibri"/>
              </a:defRPr>
            </a:pPr>
            <a:r>
              <a:t>CORE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Key Modules of the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22860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192024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530352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8BDF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48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Input Processing Module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  <a:latin typeface="Calibri"/>
              </a:rPr>
              <a:t>▸  </a:t>
            </a:r>
            <a:r>
              <a:rPr sz="1400" b="0">
                <a:solidFill>
                  <a:srgbClr val="CBD5E1"/>
                </a:solidFill>
                <a:latin typeface="Calibri"/>
              </a:rPr>
              <a:t>Converts speech to text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  <a:latin typeface="Calibri"/>
              </a:rPr>
              <a:t>▸  </a:t>
            </a:r>
            <a:r>
              <a:rPr sz="1400" b="0">
                <a:solidFill>
                  <a:srgbClr val="CBD5E1"/>
                </a:solidFill>
                <a:latin typeface="Calibri"/>
              </a:rPr>
              <a:t>Extracts keywords &amp; entities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920240"/>
            <a:ext cx="5303520" cy="192024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1920240"/>
            <a:ext cx="530352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BBF24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148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Emotion Detection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974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FBBF24"/>
                </a:solidFill>
                <a:latin typeface="Calibri"/>
              </a:rPr>
              <a:t>▸  </a:t>
            </a:r>
            <a:r>
              <a:rPr sz="1400" b="0">
                <a:solidFill>
                  <a:srgbClr val="CBD5E1"/>
                </a:solidFill>
                <a:latin typeface="Calibri"/>
              </a:rPr>
              <a:t>Analyzes pitch, speed, word choice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FBBF24"/>
                </a:solidFill>
                <a:latin typeface="Calibri"/>
              </a:rPr>
              <a:t>▸  </a:t>
            </a:r>
            <a:r>
              <a:rPr sz="1400" b="0">
                <a:solidFill>
                  <a:srgbClr val="CBD5E1"/>
                </a:solidFill>
                <a:latin typeface="Calibri"/>
              </a:rPr>
              <a:t>Classifies: happy, stressed, angry, neutral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14800"/>
            <a:ext cx="5303520" cy="192024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14800"/>
            <a:ext cx="530352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97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4D399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343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Context Memory 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920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4D399"/>
                </a:solidFill>
                <a:latin typeface="Calibri"/>
              </a:rPr>
              <a:t>▸  </a:t>
            </a:r>
            <a:r>
              <a:rPr sz="1400" b="0">
                <a:solidFill>
                  <a:srgbClr val="CBD5E1"/>
                </a:solidFill>
                <a:latin typeface="Calibri"/>
              </a:rPr>
              <a:t>Stores past queries &amp; preferences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4D399"/>
                </a:solidFill>
                <a:latin typeface="Calibri"/>
              </a:rPr>
              <a:t>▸  </a:t>
            </a:r>
            <a:r>
              <a:rPr sz="1400" b="0">
                <a:solidFill>
                  <a:srgbClr val="CBD5E1"/>
                </a:solidFill>
                <a:latin typeface="Calibri"/>
              </a:rPr>
              <a:t>Tracks behavioral patterns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4114800"/>
            <a:ext cx="5303520" cy="192024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4114800"/>
            <a:ext cx="530352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297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A78BFA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343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Adaptive Response Generator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8920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A78BFA"/>
                </a:solidFill>
                <a:latin typeface="Calibri"/>
              </a:rPr>
              <a:t>▸  </a:t>
            </a:r>
            <a:r>
              <a:rPr sz="1400" b="0">
                <a:solidFill>
                  <a:srgbClr val="CBD5E1"/>
                </a:solidFill>
                <a:latin typeface="Calibri"/>
              </a:rPr>
              <a:t>Selects tone: formal, friendly, empathetic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A78BFA"/>
                </a:solidFill>
                <a:latin typeface="Calibri"/>
              </a:rPr>
              <a:t>▸  </a:t>
            </a:r>
            <a:r>
              <a:rPr sz="1400" b="0">
                <a:solidFill>
                  <a:srgbClr val="CBD5E1"/>
                </a:solidFill>
                <a:latin typeface="Calibri"/>
              </a:rPr>
              <a:t>Generates personalized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WORKING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Same Query, Different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22860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32004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7171"/>
                </a:solidFill>
                <a:latin typeface="Calibri"/>
              </a:defRPr>
            </a:pPr>
            <a:r>
              <a:t>SCENARIO 1  —  Angry Tone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606040"/>
            <a:ext cx="411480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User: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“Why is my order still not delivered?”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490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Assistant: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233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“I’m really sorry for the delay. Let me check</a:t>
            </a:r>
            <a:br/>
            <a:r>
              <a:t>this immediately for you.”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5120640" cy="32004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Calibri"/>
              </a:defRPr>
            </a:pPr>
            <a:r>
              <a:t>SCENARIO 2  —  Calm Tone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606040"/>
            <a:ext cx="41148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User: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“Where is my order?”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490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Assistant: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0233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“Your order is expected to arrive tomorrow.</a:t>
            </a:r>
            <a:br/>
            <a:r>
              <a:t>Would you like tracking details?”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486400"/>
            <a:ext cx="10607040" cy="82296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577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Calibri"/>
              </a:defRPr>
            </a:pPr>
            <a:r>
              <a:t>➤  Same query, different emotional tone → different response style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Calibri"/>
              </a:defRPr>
            </a:pPr>
            <a:r>
              <a:t>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What Makes This Patent Novel?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228600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63500" cy="777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933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Real-time Emotional Adaptation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042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Not just keyword-based — understands emotional nuance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834640"/>
            <a:ext cx="63500" cy="777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907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Multi-factor Response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2186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Emotion + context + history combined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4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49040"/>
            <a:ext cx="63500" cy="7772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8221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Dynamic Tone Selection Algorithm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133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Chooses optimal communication style in real-time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6344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663440"/>
            <a:ext cx="63500" cy="777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7365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Long-term Behavioral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0474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System evolves with every user interaction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57784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5577840"/>
            <a:ext cx="63500" cy="7772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6509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Adaptive Response Templates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9618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Multiple tone layers for the same answer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alibri"/>
              </a:defRPr>
            </a:pPr>
            <a:r>
              <a:t>INNOVATION OVER EXISTING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Comparison with Traditional Assistants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22860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103120"/>
            <a:ext cx="3154680" cy="5943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2128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103120"/>
            <a:ext cx="3154680" cy="5943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2128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Traditional Assistant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2103120"/>
            <a:ext cx="3154680" cy="5943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0" y="22128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This Patent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2743200"/>
            <a:ext cx="3154680" cy="594360"/>
          </a:xfrm>
          <a:prstGeom prst="roundRect">
            <a:avLst>
              <a:gd name="adj" fmla="val 2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8529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Emotion Detection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743200"/>
            <a:ext cx="3154680" cy="594360"/>
          </a:xfrm>
          <a:prstGeom prst="roundRect">
            <a:avLst>
              <a:gd name="adj" fmla="val 2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8529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87171"/>
                </a:solidFill>
                <a:latin typeface="Calibri"/>
              </a:defRPr>
            </a:pPr>
            <a:r>
              <a:t>✘  No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743200"/>
            <a:ext cx="3154680" cy="594360"/>
          </a:xfrm>
          <a:prstGeom prst="roundRect">
            <a:avLst>
              <a:gd name="adj" fmla="val 2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28529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4D399"/>
                </a:solidFill>
                <a:latin typeface="Calibri"/>
              </a:defRPr>
            </a:pPr>
            <a:r>
              <a:t>✔  Yes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3383280"/>
            <a:ext cx="3154680" cy="59436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34930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Context Awareness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3383280"/>
            <a:ext cx="3154680" cy="59436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34930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Calibri"/>
              </a:defRPr>
            </a:pPr>
            <a:r>
              <a:t>Limited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3383280"/>
            <a:ext cx="3154680" cy="59436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0" y="34930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4D399"/>
                </a:solidFill>
                <a:latin typeface="Calibri"/>
              </a:defRPr>
            </a:pPr>
            <a:r>
              <a:t>Advanced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4023360"/>
            <a:ext cx="3154680" cy="594360"/>
          </a:xfrm>
          <a:prstGeom prst="roundRect">
            <a:avLst>
              <a:gd name="adj" fmla="val 2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41330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Personalization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4023360"/>
            <a:ext cx="3154680" cy="594360"/>
          </a:xfrm>
          <a:prstGeom prst="roundRect">
            <a:avLst>
              <a:gd name="adj" fmla="val 2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41330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Calibri"/>
              </a:defRPr>
            </a:pPr>
            <a:r>
              <a:t>Basic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4023360"/>
            <a:ext cx="3154680" cy="594360"/>
          </a:xfrm>
          <a:prstGeom prst="roundRect">
            <a:avLst>
              <a:gd name="adj" fmla="val 2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0" y="41330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4D399"/>
                </a:solidFill>
                <a:latin typeface="Calibri"/>
              </a:defRPr>
            </a:pPr>
            <a:r>
              <a:t>Deep Learning Based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71600" y="4663440"/>
            <a:ext cx="3154680" cy="59436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47731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Adaptive Tone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4663440"/>
            <a:ext cx="3154680" cy="59436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47731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4663440"/>
            <a:ext cx="3154680" cy="59436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0" y="47731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4D399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71600" y="5303520"/>
            <a:ext cx="3154680" cy="594360"/>
          </a:xfrm>
          <a:prstGeom prst="roundRect">
            <a:avLst>
              <a:gd name="adj" fmla="val 2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54480" y="54132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Learning Over Time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0" y="5303520"/>
            <a:ext cx="3154680" cy="594360"/>
          </a:xfrm>
          <a:prstGeom prst="roundRect">
            <a:avLst>
              <a:gd name="adj" fmla="val 2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0" y="54132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Calibri"/>
              </a:defRPr>
            </a:pPr>
            <a:r>
              <a:t>Minimal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5303520"/>
            <a:ext cx="3154680" cy="594360"/>
          </a:xfrm>
          <a:prstGeom prst="roundRect">
            <a:avLst>
              <a:gd name="adj" fmla="val 2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55280" y="54132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4D399"/>
                </a:solidFill>
                <a:latin typeface="Calibri"/>
              </a:defRPr>
            </a:pPr>
            <a:r>
              <a:t>Continuous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alibri"/>
              </a:defRPr>
            </a:pPr>
            <a:r>
              <a:t>TECHNICAL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Algorithm Flowchart (Figure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2286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91840" y="1828800"/>
            <a:ext cx="2926080" cy="438912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91840" y="1828800"/>
            <a:ext cx="50800" cy="43891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883664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1883664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22199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377440"/>
            <a:ext cx="2926080" cy="438912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2377440"/>
            <a:ext cx="50800" cy="43891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432304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432304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Receive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77063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2926080"/>
            <a:ext cx="2926080" cy="438912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2926080"/>
            <a:ext cx="50800" cy="4389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2980944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2980944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Perform NLP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31927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3474720"/>
            <a:ext cx="2926080" cy="438912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0" y="3474720"/>
            <a:ext cx="50800" cy="43891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3529584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0" y="3529584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Detect Emotional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86791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91840" y="4023360"/>
            <a:ext cx="2926080" cy="438912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91840" y="4023360"/>
            <a:ext cx="50800" cy="43891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4078224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40" y="4078224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Retrieve User Context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41655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91840" y="4572000"/>
            <a:ext cx="2926080" cy="438912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91840" y="4572000"/>
            <a:ext cx="50800" cy="43891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29000" y="4626864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7171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40" y="4626864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Select Response Strategy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496519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5120640"/>
            <a:ext cx="2926080" cy="438912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91840" y="5120640"/>
            <a:ext cx="50800" cy="43891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29000" y="5175504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40" y="5175504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Generate Adaptive Response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17720" y="551383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91840" y="5669280"/>
            <a:ext cx="2926080" cy="438912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91840" y="5669280"/>
            <a:ext cx="50800" cy="43891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29000" y="5724144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9040" y="5724144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Output Response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17720" y="606247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91840" y="6217920"/>
            <a:ext cx="2926080" cy="438912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91840" y="6217920"/>
            <a:ext cx="50800" cy="4389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29000" y="6272784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49040" y="6272784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Update Learning DB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17720" y="661111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91840" y="6766560"/>
            <a:ext cx="2926080" cy="438912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291840" y="6766560"/>
            <a:ext cx="50800" cy="43891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29000" y="6821424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49040" y="6821424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End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Calibri"/>
              </a:defRPr>
            </a:pPr>
            <a:r>
              <a:t>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Possible Applications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22860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146304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329184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8BDF8"/>
                </a:solidFill>
                <a:latin typeface="Calibri"/>
              </a:defRPr>
            </a:pPr>
            <a:r>
              <a:t>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Smart Speakers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Voice-based adaptive interaction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011680"/>
            <a:ext cx="3291840" cy="146304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011680"/>
            <a:ext cx="329184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6B6D4"/>
                </a:solidFill>
                <a:latin typeface="Calibri"/>
              </a:defRPr>
            </a:pPr>
            <a:r>
              <a:t>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97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Customer Service Bots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Emotion-aware ticket handling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2011680"/>
            <a:ext cx="3291840" cy="146304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80" y="2011680"/>
            <a:ext cx="329184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2240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A78BFA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697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Mental Health Chatbots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Sensitive &amp; empathetic responses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749040"/>
            <a:ext cx="3291840" cy="146304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749040"/>
            <a:ext cx="329184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977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4D399"/>
                </a:solidFill>
                <a:latin typeface="Calibri"/>
              </a:defRPr>
            </a:pPr>
            <a:r>
              <a:t>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434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Banking Assistants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54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Context-aware financial guidance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749040"/>
            <a:ext cx="3291840" cy="146304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3749040"/>
            <a:ext cx="329184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3977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BBF24"/>
                </a:solidFill>
                <a:latin typeface="Calibri"/>
              </a:defRPr>
            </a:pPr>
            <a:r>
              <a:t>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434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E-commerce Support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754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Personalized shopping assistance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80" y="3749040"/>
            <a:ext cx="3291840" cy="146304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55280" y="3749040"/>
            <a:ext cx="329184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80" y="3977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87171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4434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Healthcare Assistants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4754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Patient-aware communication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alibri"/>
              </a:defRPr>
            </a:pPr>
            <a: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Key 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22860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Calibri"/>
              </a:defRPr>
            </a:pPr>
            <a:r>
              <a:t>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0848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More human-like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23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Natural conversation flow that mirrors real human communication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Calibri"/>
              </a:defRPr>
            </a:pPr>
            <a:r>
              <a:t>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999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Better user engagement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337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Users feel understood and stay engaged longer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977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Calibri"/>
              </a:defRPr>
            </a:pPr>
            <a:r>
              <a:t>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913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Increased customer satisfaction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251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Empathetic responses lead to happier customers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75488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892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Calibri"/>
              </a:defRPr>
            </a:pPr>
            <a: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828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Reduced escalation to human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166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AI handles emotional situations without hand-off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66928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806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Calibri"/>
              </a:defRPr>
            </a:pPr>
            <a:r>
              <a:t>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7424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Improved personalization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6080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Every interaction gets better through continuous 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Challenges &amp;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22860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2103120"/>
            <a:ext cx="9144000" cy="9144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2103120"/>
            <a:ext cx="63500" cy="914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1762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BBF24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1945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Large Dataset Requirement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560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Training requires extensive emotional &amp; contextual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200400"/>
            <a:ext cx="9144000" cy="9144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0" y="3200400"/>
            <a:ext cx="63500" cy="914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32735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7171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291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Privacy Concerns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657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Storing user behavioral data raises data protection issues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4297680"/>
            <a:ext cx="9144000" cy="9144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" y="4297680"/>
            <a:ext cx="63500" cy="914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43708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78BFA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3891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Emotion Detection 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754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Emotion classification may not always be precise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5394960"/>
            <a:ext cx="9144000" cy="9144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5394960"/>
            <a:ext cx="63500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0" y="54681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6B6D4"/>
                </a:solidFill>
                <a:latin typeface="Calibri"/>
              </a:defRPr>
            </a:pPr>
            <a:r>
              <a:t>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54864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Computational Intensity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5852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Real-time processing demands significant compute resources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alibri"/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What’s Next?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2286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303520" cy="192024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53035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38BDF8"/>
                </a:solidFill>
                <a:latin typeface="Calibri"/>
              </a:defRPr>
            </a:pPr>
            <a:r>
              <a:t>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240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Wearable Emotion Sensors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5176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Integration with smartwatches and biometric devices</a:t>
            </a:r>
            <a:br/>
            <a:r>
              <a:t>for real-time physiological emotion detection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11680"/>
            <a:ext cx="5303520" cy="192024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011680"/>
            <a:ext cx="530352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240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06B6D4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240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Multilingual Adaptive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65176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Extend adaptive responses across multiple languages</a:t>
            </a:r>
            <a:br/>
            <a:r>
              <a:t>and cultural communication styles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06240"/>
            <a:ext cx="5303520" cy="192024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206240"/>
            <a:ext cx="530352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434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A78BFA"/>
                </a:solidFill>
                <a:latin typeface="Calibri"/>
              </a:defRPr>
            </a:pPr>
            <a:r>
              <a:t>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434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Facial + Voice Combined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8463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Merge facial expression analysis with voice emotion</a:t>
            </a:r>
            <a:br/>
            <a:r>
              <a:t>detection for higher accuracy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206240"/>
            <a:ext cx="5303520" cy="192024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206240"/>
            <a:ext cx="530352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434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34D399"/>
                </a:solidFill>
                <a:latin typeface="Calibri"/>
              </a:defRPr>
            </a:pPr>
            <a:r>
              <a:t>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434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Elderly Care Companions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8463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AI companions providing empathetic, patient interaction</a:t>
            </a:r>
            <a:br/>
            <a:r>
              <a:t>for elderly and assisted-living scenarios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Wrapping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Calibri"/>
              </a:defRPr>
            </a:pPr>
            <a:r>
              <a:t>The patent introduces a next-generation AI assistant capable of: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606040"/>
            <a:ext cx="7315200" cy="54864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0" y="2606040"/>
            <a:ext cx="63500" cy="5486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6974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Understanding emotional cues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3291840"/>
            <a:ext cx="7315200" cy="54864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0" y="3291840"/>
            <a:ext cx="63500" cy="5486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3383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Learning user behavior over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3977640"/>
            <a:ext cx="7315200" cy="54864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977640"/>
            <a:ext cx="63500" cy="5486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40690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Adapting tone dynamically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4663440"/>
            <a:ext cx="7315200" cy="54864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0" y="4663440"/>
            <a:ext cx="6350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47548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Delivering personalized responses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5394960"/>
            <a:ext cx="9144000" cy="9144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54864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  <a:latin typeface="Calibri"/>
              </a:defRPr>
            </a:pPr>
            <a:r>
              <a:t>This makes human-AI interaction more natural, empathetic, and intelligent.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